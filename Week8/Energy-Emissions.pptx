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432d15391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432d1539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432d1539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432d1539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432d15391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432d1539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432d15391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d432d15391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432d15391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432d15391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432d15391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d432d15391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432d15391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d432d15391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432d15391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432d15391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1950" y="1883500"/>
            <a:ext cx="57639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highlight>
                  <a:srgbClr val="FFFFFF"/>
                </a:highlight>
              </a:rPr>
              <a:t>Project 1: Energy, Emissions and Development</a:t>
            </a:r>
            <a:endParaRPr b="1"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DATA 201 - Spring 2026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Raul Miranda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rgbClr val="8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20"/>
              <a:t>Motivation</a:t>
            </a:r>
            <a:endParaRPr sz="2220"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925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Energy use is an indicator of technological, economic, social, development.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Combustion of fossil sources has led to increasing CO2 emissions.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QUESTIONS: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</a:rPr>
              <a:t>1- Is CO2 emission quantitatively correlated with the technological and economic  development of nations over the past 30 years? </a:t>
            </a:r>
            <a:endParaRPr b="1" sz="13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</a:rPr>
              <a:t>2. Have different regions of the world developed independent correlations? </a:t>
            </a:r>
            <a:endParaRPr b="1" sz="13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</a:rPr>
              <a:t>3. Is the use of renewable energy evidenced by a reduction in CO2 production?  </a:t>
            </a:r>
            <a:endParaRPr b="1" sz="13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</a:rPr>
              <a:t>4. Is methane emission following similar trends to CO2?</a:t>
            </a:r>
            <a:endParaRPr b="1" sz="13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Datasets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 sz="14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</a:rPr>
              <a:t>Our World in Data: CO2 and methane emissions, share of emissions from the various sources. 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</a:rPr>
              <a:t>https://github.com/owid/co2-data</a:t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</a:rPr>
              <a:t>World Bank - Patent applications as measure of technological advancement.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</a:rPr>
              <a:t> https://data.worldbank.org/indicator/IP.PAT.RESD</a:t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Bias: </a:t>
            </a:r>
            <a:r>
              <a:rPr lang="en" sz="1400">
                <a:solidFill>
                  <a:schemeClr val="dk1"/>
                </a:solidFill>
              </a:rPr>
              <a:t>sparse information for the less developed or more restrictive countries. 1990-2022 has a reasonable overlap of emissions and patent data for many countries.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Merged working dataset after cleaning: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74">
                <a:solidFill>
                  <a:schemeClr val="dk1"/>
                </a:solidFill>
              </a:rPr>
              <a:t>7,194 rows and 82 columns - Countries: 218 - Years: 1990 to 2022</a:t>
            </a:r>
            <a:endParaRPr sz="1724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Variables of interest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8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" sz="117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Variable                   Definition                                         Type</a:t>
            </a:r>
            <a:endParaRPr b="1" sz="117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07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country                      Name of the country                                     Categorical</a:t>
            </a:r>
            <a:endParaRPr sz="107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07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continent                    Name of continent                                       Categorical</a:t>
            </a:r>
            <a:endParaRPr sz="107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07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year                         Calendar year of observation                            Quantitative</a:t>
            </a:r>
            <a:endParaRPr sz="107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07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iso_code                     ISO 3-letter country code                               Categorical</a:t>
            </a:r>
            <a:endParaRPr sz="107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07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population                   Total population                                        Quantitative</a:t>
            </a:r>
            <a:endParaRPr sz="107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07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gdp                          Gross domestic product (constant 2011 USD)              Quantitative</a:t>
            </a:r>
            <a:endParaRPr sz="107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07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co2                          Annual CO2 emissions (million tonnes)                   Quantitative</a:t>
            </a:r>
            <a:endParaRPr sz="107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07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methane                      Annual methane emissions (MtCO2e)                       Quantitative</a:t>
            </a:r>
            <a:endParaRPr sz="107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07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primary_energy_consumption   Total primary energy (TWh)                              Quantitative</a:t>
            </a:r>
            <a:endParaRPr sz="107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07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patent_applications          Resident patent filings (WIPO)                          Quantitative</a:t>
            </a:r>
            <a:endParaRPr sz="107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07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co2_per_unit_energy          Renewable energy proxy (kg CO2/kWh)                     Quantitative</a:t>
            </a:r>
            <a:endParaRPr sz="107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07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1800">
                <a:highlight>
                  <a:srgbClr val="FFFFFF"/>
                </a:highlight>
              </a:rPr>
              <a:t>Analysis:   Annual CO2 Emissions</a:t>
            </a:r>
            <a:endParaRPr b="1" sz="18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800"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825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</a:rPr>
              <a:t>Question:</a:t>
            </a:r>
            <a:r>
              <a:rPr lang="en" sz="1250">
                <a:solidFill>
                  <a:schemeClr val="dk1"/>
                </a:solidFill>
                <a:highlight>
                  <a:srgbClr val="FFFFFF"/>
                </a:highlight>
              </a:rPr>
              <a:t> What is the distribution of annual CO2 emissions (in million tonnes) across country-years from 1990 to 2022, and what does that distribution reveal about global inequality in emissions?</a:t>
            </a:r>
            <a:endParaRPr sz="12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Mean   : 135.39 MtCO2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Median : 6.88 MtCO2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 Dev: 656.52 MtCO2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0625" y="2571750"/>
            <a:ext cx="6684499" cy="246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Analysis: Continent</a:t>
            </a:r>
            <a:endParaRPr b="1" sz="1800"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</a:rPr>
              <a:t>Question: </a:t>
            </a:r>
            <a:r>
              <a:rPr lang="en" sz="1250">
                <a:solidFill>
                  <a:schemeClr val="dk1"/>
                </a:solidFill>
                <a:highlight>
                  <a:srgbClr val="FFFFFF"/>
                </a:highlight>
              </a:rPr>
              <a:t>How are total CO2 emissions distributed across continents, and which ones contribute most to global emissions over 1990-2022?</a:t>
            </a:r>
            <a:endParaRPr sz="12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82750"/>
            <a:ext cx="9047125" cy="333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Relationship between Patents and CO2 Emissions</a:t>
            </a:r>
            <a:endParaRPr b="1"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6"/>
              <a:t>(using 2015-2020 average)</a:t>
            </a:r>
            <a:endParaRPr b="1" sz="1356"/>
          </a:p>
        </p:txBody>
      </p:sp>
      <p:pic>
        <p:nvPicPr>
          <p:cNvPr id="92" name="Google Shape;9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50" y="2884175"/>
            <a:ext cx="2648575" cy="153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38575" y="1240150"/>
            <a:ext cx="6305426" cy="3395226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9"/>
          <p:cNvSpPr txBox="1"/>
          <p:nvPr/>
        </p:nvSpPr>
        <p:spPr>
          <a:xfrm>
            <a:off x="353700" y="4493025"/>
            <a:ext cx="2292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Pearson r (log-log): 0.648</a:t>
            </a:r>
            <a:endParaRPr/>
          </a:p>
        </p:txBody>
      </p:sp>
      <p:sp>
        <p:nvSpPr>
          <p:cNvPr id="95" name="Google Shape;95;p19"/>
          <p:cNvSpPr txBox="1"/>
          <p:nvPr/>
        </p:nvSpPr>
        <p:spPr>
          <a:xfrm>
            <a:off x="0" y="1098675"/>
            <a:ext cx="2732700" cy="17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highlight>
                  <a:srgbClr val="FFFFFF"/>
                </a:highlight>
              </a:rPr>
              <a:t>Q</a:t>
            </a:r>
            <a:r>
              <a:rPr b="1" lang="en" sz="1000">
                <a:solidFill>
                  <a:schemeClr val="dk1"/>
                </a:solidFill>
                <a:highlight>
                  <a:srgbClr val="FFFFFF"/>
                </a:highlight>
              </a:rPr>
              <a:t>uestion: 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</a:rPr>
              <a:t>Is there a relationship between a country's technological innovation (resident patent filings per million people) and its annual CO2 emissions per capita? Does higher innovation correlate with lower or higher emissions intensity?*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Nonparametric inference - bootstrap CI for median CO2/capita</a:t>
            </a:r>
            <a:endParaRPr b="1" sz="1800"/>
          </a:p>
        </p:txBody>
      </p:sp>
      <p:sp>
        <p:nvSpPr>
          <p:cNvPr id="101" name="Google Shape;101;p20"/>
          <p:cNvSpPr txBox="1"/>
          <p:nvPr/>
        </p:nvSpPr>
        <p:spPr>
          <a:xfrm>
            <a:off x="211650" y="907650"/>
            <a:ext cx="23310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</a:rPr>
              <a:t>Q</a:t>
            </a: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</a:rPr>
              <a:t>uestion: 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</a:rPr>
              <a:t>What is the median CO2 per capita among all country-years from 1990-2022, and how precisely can we estimate it from a 10% random sample?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102" name="Google Shape;102;p20"/>
          <p:cNvSpPr txBox="1"/>
          <p:nvPr/>
        </p:nvSpPr>
        <p:spPr>
          <a:xfrm>
            <a:off x="2745263" y="907650"/>
            <a:ext cx="2659200" cy="13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Full population size N = 7,016</a:t>
            </a:r>
            <a:endParaRPr sz="105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Population median = 2.7137 t CO2/person</a:t>
            </a:r>
            <a:endParaRPr sz="105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Sample size n = 702 (10.0%)</a:t>
            </a:r>
            <a:endParaRPr sz="105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Sample median  = 2.6660 t CO2/person</a:t>
            </a:r>
            <a:endParaRPr/>
          </a:p>
        </p:txBody>
      </p:sp>
      <p:sp>
        <p:nvSpPr>
          <p:cNvPr id="103" name="Google Shape;103;p20"/>
          <p:cNvSpPr txBox="1"/>
          <p:nvPr/>
        </p:nvSpPr>
        <p:spPr>
          <a:xfrm>
            <a:off x="5607075" y="1017725"/>
            <a:ext cx="3156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Bootstrap SE of median= 0.2160</a:t>
            </a:r>
            <a:endParaRPr sz="105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95% CI (percentile method)=</a:t>
            </a:r>
            <a:endParaRPr sz="105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[2.2734, 3.1448] t CO2/person</a:t>
            </a:r>
            <a:endParaRPr sz="105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Interval width: 0.8714</a:t>
            </a:r>
            <a:endParaRPr/>
          </a:p>
        </p:txBody>
      </p:sp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950" y="2177125"/>
            <a:ext cx="7403501" cy="288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</a:t>
            </a:r>
            <a:endParaRPr/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25" y="1210150"/>
            <a:ext cx="9143999" cy="34134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