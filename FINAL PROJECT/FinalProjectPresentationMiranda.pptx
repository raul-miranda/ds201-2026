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0d2bc49f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0d2bc49f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6cfacbd5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e6cfacbd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6cfacbd5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e6cfacbd5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6cfacbd5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6cfacbd5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0d2bc49f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0d2bc49f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0d2bc49f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0d2bc49f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0d2bc49f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0d2bc49f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d2bc49f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0d2bc49f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0d2bc49f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0d2bc49f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0d2bc49f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0d2bc49f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d2bc49f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0d2bc49f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0d2bc49f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0d2bc49f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0d2bc49f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0d2bc49f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0d2bc49f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0d2bc49f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0d2bc49f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0d2bc49f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0d2bc49f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0d2bc49f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0d2bc49f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0d2bc49f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atabank.worldbank.org/source/world-development-indicators" TargetMode="External"/><Relationship Id="rId4" Type="http://schemas.openxmlformats.org/officeDocument/2006/relationships/hyperlink" Target="https://www.worldbank.org/en/publication/worldwide-governance-indicators" TargetMode="External"/><Relationship Id="rId5" Type="http://schemas.openxmlformats.org/officeDocument/2006/relationships/hyperlink" Target="http://worlduncertaintyindex.com/data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1950" y="1883500"/>
            <a:ext cx="65682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Final</a:t>
            </a: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Project: 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Leading Factors for </a:t>
            </a:r>
            <a:r>
              <a:rPr b="1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R&amp;D Investment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</a:rPr>
              <a:t>s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DATA 201 - Spring 2026</a:t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Raul Miranda</a:t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8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Motivation</a:t>
            </a:r>
            <a:endParaRPr sz="22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92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dk1"/>
                </a:solidFill>
              </a:rPr>
              <a:t>A country </a:t>
            </a:r>
            <a:r>
              <a:rPr lang="en" sz="1700">
                <a:solidFill>
                  <a:schemeClr val="dk1"/>
                </a:solidFill>
              </a:rPr>
              <a:t>investment in R&amp;D depends on various factors: wealth, technological and human development, policy, uncertainty, etc.  In project 2, we concluded that the dominant factor was wealth (GDP/capita). However, it didn’t explain the </a:t>
            </a:r>
            <a:r>
              <a:rPr b="1" lang="en" sz="1700">
                <a:solidFill>
                  <a:schemeClr val="dk1"/>
                </a:solidFill>
              </a:rPr>
              <a:t>inconsistency </a:t>
            </a:r>
            <a:r>
              <a:rPr lang="en" sz="1700">
                <a:solidFill>
                  <a:schemeClr val="dk1"/>
                </a:solidFill>
              </a:rPr>
              <a:t>between ranking of countries by GDP/capita and their real R&amp;D dominance in the world.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dk1"/>
                </a:solidFill>
              </a:rPr>
              <a:t>We decided to include 2 additional factors: researchers/per-million and govt_effectiveness.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QUESTION:</a:t>
            </a:r>
            <a:endParaRPr b="1" sz="13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5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</a:rPr>
              <a:t>Which are the most relevant factors determining R&amp;D spending and 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</a:rPr>
              <a:t>global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</a:rPr>
              <a:t> dominance?</a:t>
            </a:r>
            <a:endParaRPr b="1" sz="15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62"/>
              <a:buNone/>
            </a:pPr>
            <a:r>
              <a:rPr b="1" lang="en" sz="1280">
                <a:solidFill>
                  <a:schemeClr val="dk1"/>
                </a:solidFill>
              </a:rPr>
              <a:t>World Bank - Development Indicators (WBI) - 6 indicators</a:t>
            </a:r>
            <a:endParaRPr b="1"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216">
                <a:solidFill>
                  <a:srgbClr val="990000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https://databank.worldbank.org/source/world-development-indicators</a:t>
            </a:r>
            <a:endParaRPr sz="1216">
              <a:solidFill>
                <a:srgbClr val="99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00"/>
                </a:solidFill>
              </a:rPr>
              <a:t>World Bank - </a:t>
            </a:r>
            <a:r>
              <a:rPr b="1" lang="en" sz="1250">
                <a:solidFill>
                  <a:srgbClr val="000000"/>
                </a:solidFill>
                <a:highlight>
                  <a:srgbClr val="FFFFFF"/>
                </a:highlight>
              </a:rPr>
              <a:t>Worlwide Governance Indicators - gov_effectiveness</a:t>
            </a:r>
            <a:endParaRPr b="1" sz="12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rgbClr val="990000"/>
                </a:solidFill>
                <a:highlight>
                  <a:srgbClr val="FFFFFF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https://www.worldbank.org/en/publication/worldwide-governance-indicators</a:t>
            </a:r>
            <a:endParaRPr sz="1200">
              <a:solidFill>
                <a:srgbClr val="99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</a:rPr>
              <a:t>tracks </a:t>
            </a:r>
            <a:r>
              <a:rPr b="1" lang="en" sz="1200">
                <a:solidFill>
                  <a:srgbClr val="3B3B3B"/>
                </a:solidFill>
                <a:highlight>
                  <a:srgbClr val="FFFFFF"/>
                </a:highlight>
              </a:rPr>
              <a:t>quality of public services, the civil</a:t>
            </a:r>
            <a:endParaRPr b="1" sz="1200">
              <a:solidFill>
                <a:srgbClr val="3B3B3B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</a:rPr>
              <a:t>service, policy formulation and implementation, and the credibility of governments decisions</a:t>
            </a: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2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280">
                <a:solidFill>
                  <a:schemeClr val="dk1"/>
                </a:solidFill>
                <a:highlight>
                  <a:schemeClr val="lt1"/>
                </a:highlight>
              </a:rPr>
              <a:t>World uncertainty index (WUI)</a:t>
            </a:r>
            <a:endParaRPr b="1" sz="128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216">
                <a:solidFill>
                  <a:srgbClr val="990000"/>
                </a:solidFill>
                <a:highlight>
                  <a:schemeClr val="lt1"/>
                </a:highlight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http://worlduncertaintyindex.com/data/</a:t>
            </a:r>
            <a:endParaRPr sz="1035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chemeClr val="lt1"/>
                </a:highlight>
              </a:rPr>
              <a:t>(tracks uncertainty (sentiment analysis) quarterly across the globe since 1950s. 143 countries.)</a:t>
            </a:r>
            <a:endParaRPr b="1"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t/>
            </a:r>
            <a:endParaRPr sz="1035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2"/>
              <a:buNone/>
            </a:pPr>
            <a:r>
              <a:rPr b="1" lang="en" sz="1280">
                <a:solidFill>
                  <a:schemeClr val="dk1"/>
                </a:solidFill>
              </a:rPr>
              <a:t>(8 indicators - timeperiod: 1995-2024, 52 selected countries.)</a:t>
            </a:r>
            <a:endParaRPr b="1"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2"/>
              <a:buNone/>
            </a:pPr>
            <a:r>
              <a:rPr b="1" lang="en" sz="1280">
                <a:solidFill>
                  <a:schemeClr val="dk1"/>
                </a:solidFill>
              </a:rPr>
              <a:t>Bias: </a:t>
            </a:r>
            <a:r>
              <a:rPr lang="en" sz="1280">
                <a:solidFill>
                  <a:schemeClr val="dk1"/>
                </a:solidFill>
              </a:rPr>
              <a:t>sparse information for the less developed or more restrictive countries. The 52 countries do not include any of the low-income nations.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2"/>
              <a:buNone/>
            </a:pPr>
            <a:r>
              <a:rPr lang="en" sz="1280">
                <a:solidFill>
                  <a:schemeClr val="dk1"/>
                </a:solidFill>
              </a:rPr>
              <a:t>Merged working dataset after cleaning: </a:t>
            </a:r>
            <a:endParaRPr sz="128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2"/>
              <a:buNone/>
            </a:pPr>
            <a:r>
              <a:rPr lang="en" sz="1262">
                <a:solidFill>
                  <a:schemeClr val="dk1"/>
                </a:solidFill>
              </a:rPr>
              <a:t>1560 rows and 13 variables</a:t>
            </a:r>
            <a:endParaRPr sz="150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362"/>
              <a:buNone/>
            </a:pPr>
            <a:r>
              <a:t/>
            </a:r>
            <a:endParaRPr sz="15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220"/>
              <a:t>Variables of interest</a:t>
            </a:r>
            <a:endParaRPr sz="2220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75200" y="1101675"/>
            <a:ext cx="8520600" cy="3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2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Variable                                                      Type</a:t>
            </a:r>
            <a:endParaRPr b="1" sz="12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Researchers_per_million     (new variable)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Government_effectiveness	  (new variable)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iso_code                    ISO 3-letter country code            Categorical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region                      (6 world regions)                    Categorical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income_group                lower-middle, upper-middle, high     Categorical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GDP_per_capita              US dollars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1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Health_spend         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%GDP 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1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Education_spend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%GDP 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5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RD_spend                     </a:t>
            </a: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%GDP 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Life_expectancy             years            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7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WUI                          uncertainty index                    Quantitative</a:t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7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175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from Project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879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800">
                <a:highlight>
                  <a:srgbClr val="FFFFFF"/>
                </a:highlight>
              </a:rPr>
              <a:t>Exploratory data analysis and visualization</a:t>
            </a:r>
            <a:endParaRPr b="1" sz="18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00"/>
          </a:p>
        </p:txBody>
      </p:sp>
      <p:pic>
        <p:nvPicPr>
          <p:cNvPr id="83" name="Google Shape;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6785"/>
            <a:ext cx="9143999" cy="4632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375" y="209025"/>
            <a:ext cx="7305251" cy="46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Project 2 </a:t>
            </a:r>
            <a:r>
              <a:rPr b="1" lang="en" sz="2220"/>
              <a:t>Model Results for prediction of R&amp;D</a:t>
            </a:r>
            <a:endParaRPr b="1" sz="2220"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8520600" cy="3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Tried 4 models: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0.   Linear Regression without region and income group included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Linear regression including all features, including region and income group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Polynomial regression: quadratic in log GDP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Interaction of log GDP and WUI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Comparison: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Model      RMSE        R2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                   Linear  0.780412  0.506989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  Linear with Categorical  0.688461  0.616321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               Polynomial  0.689879  0.614739</a:t>
            </a:r>
            <a:endParaRPr sz="14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              Interaction  0.688766  0.615981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20"/>
              <a:t>Logistic correlation coefficients vs log odds: variable importance</a:t>
            </a:r>
            <a:endParaRPr b="1" sz="1820"/>
          </a:p>
        </p:txBody>
      </p:sp>
      <p:pic>
        <p:nvPicPr>
          <p:cNvPr id="100" name="Google Shape;1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025" y="1145275"/>
            <a:ext cx="703863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311700" y="139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Added to Final Project</a:t>
            </a:r>
            <a:endParaRPr/>
          </a:p>
        </p:txBody>
      </p:sp>
      <p:sp>
        <p:nvSpPr>
          <p:cNvPr id="106" name="Google Shape;106;p22"/>
          <p:cNvSpPr txBox="1"/>
          <p:nvPr/>
        </p:nvSpPr>
        <p:spPr>
          <a:xfrm>
            <a:off x="2032000" y="2571750"/>
            <a:ext cx="597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Researchers per Million      (human capital)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Government Effectiveness  (adherence to policies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robust legal system)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850" y="461050"/>
            <a:ext cx="684114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25" y="566875"/>
            <a:ext cx="7777225" cy="434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 R&amp;D expenditure as %GDP using Tree Models</a:t>
            </a:r>
            <a:endParaRPr/>
          </a:p>
        </p:txBody>
      </p:sp>
      <p:pic>
        <p:nvPicPr>
          <p:cNvPr id="122" name="Google Shape;1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676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4325" y="713350"/>
            <a:ext cx="5975349" cy="41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575" y="808550"/>
            <a:ext cx="6091774" cy="426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450" y="685950"/>
            <a:ext cx="6197624" cy="433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1725"/>
            <a:ext cx="8839200" cy="3901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575" y="257425"/>
            <a:ext cx="5827175" cy="45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0325"/>
            <a:ext cx="8839200" cy="378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675" y="967325"/>
            <a:ext cx="5492116" cy="19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2375" y="2878675"/>
            <a:ext cx="5492125" cy="1911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74075"/>
            <a:ext cx="8297324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Conclusions</a:t>
            </a:r>
            <a:endParaRPr sz="2620"/>
          </a:p>
        </p:txBody>
      </p:sp>
      <p:sp>
        <p:nvSpPr>
          <p:cNvPr id="169" name="Google Shape;16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model to predict R&amp;D investment as %GDP was created including as features: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Government effectiveness, country wealth (GDP/capita), human capital (researchers/million), social investment (life expectancy, health, education), regional and income differences, periodic upsets (uncertainty).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leading factor is Government effectiveness, 2x as important as human capital, and 4x as important as GDP/capita.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results from decision tree-based models and from support vector machine models are very robust, with R</a:t>
            </a:r>
            <a:r>
              <a:rPr baseline="30000" lang="en"/>
              <a:t>2</a:t>
            </a:r>
            <a:r>
              <a:rPr lang="en"/>
              <a:t> &gt; 0.9 in all cases.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my dataset, DT models perform better than SVM models under comparable conditions (hyperparameter values).  Gradient boosting DT yields the highest </a:t>
            </a:r>
            <a:r>
              <a:rPr lang="en"/>
              <a:t>R</a:t>
            </a:r>
            <a:r>
              <a:rPr baseline="30000" lang="en"/>
              <a:t>2</a:t>
            </a:r>
            <a:r>
              <a:rPr lang="en"/>
              <a:t> and lowest MSE.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did not observe overfitting after increasing the complexity (levels) of the DT model.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