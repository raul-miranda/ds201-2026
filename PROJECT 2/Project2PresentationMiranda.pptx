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rnjD4kgv5tg6kdnnDgy969Nl7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6cfacbd5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6cfacbd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cfacbd5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cfacbd5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cfacbd5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6cfacbd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6cfacbd5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6cfacbd5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cfacbd5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cfacbd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6cfacbd5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6cfacbd5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cfacbd5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6cfacbd5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6cfacbd5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6cfacbd5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6cfacbd5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6cfacbd5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orlduncertaintyindex.com/data/" TargetMode="External"/><Relationship Id="rId4" Type="http://schemas.openxmlformats.org/officeDocument/2006/relationships/hyperlink" Target="https://databank.worldbank.org/source/world-development-indicator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461950" y="1883500"/>
            <a:ext cx="57639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2</a:t>
            </a: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R&amp;D Investment under National Uncertainty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201 - Spring 2026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Raul Miranda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Motivation</a:t>
            </a:r>
            <a:endParaRPr sz="2220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92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Future investments in R&amp;D depend on wealth, human development, policy, competitiveness, and may be influenced by uncertainty factors.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QUESTIONS: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1. Can we quantify how wealth drives technology (GDP/capita vs. R&amp;D expenditure)?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. Have different regions of the world developed independent correlations? </a:t>
            </a:r>
            <a:endParaRPr b="1"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3. How influential are human factors (health and education) on R&amp;D expenditure?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4. Does uncertainty affect R&amp;D expenditure?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28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80">
                <a:solidFill>
                  <a:schemeClr val="dk1"/>
                </a:solidFill>
                <a:highlight>
                  <a:srgbClr val="FFFFFF"/>
                </a:highlight>
              </a:rPr>
              <a:t>World uncertainty index (WUI)</a:t>
            </a:r>
            <a:endParaRPr b="1" sz="128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16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http://worlduncertaintyindex.com/data/</a:t>
            </a:r>
            <a:endParaRPr sz="1216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035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80">
                <a:solidFill>
                  <a:schemeClr val="dk1"/>
                </a:solidFill>
                <a:highlight>
                  <a:srgbClr val="FFFFFF"/>
                </a:highlight>
              </a:rPr>
              <a:t>(tracks uncertainty (sentiment analysis) quarterly across the globe since 1950s. 143 countries.)</a:t>
            </a:r>
            <a:endParaRPr b="1" sz="128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2"/>
              <a:buNone/>
            </a:pPr>
            <a:r>
              <a:t/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World Bank - Development Indicators (WBI)</a:t>
            </a:r>
            <a:endParaRPr b="1"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216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https://databank.worldbank.org/source/world-development-indicators</a:t>
            </a:r>
            <a:endParaRPr sz="1216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035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(6 indicators - timeperiod: 1995-2024, 52 selected countries.)</a:t>
            </a:r>
            <a:endParaRPr b="1"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Bias: </a:t>
            </a:r>
            <a:r>
              <a:rPr lang="en" sz="1280">
                <a:solidFill>
                  <a:schemeClr val="dk1"/>
                </a:solidFill>
              </a:rPr>
              <a:t>sparse information for the less developed or more restrictive countries. 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lang="en" sz="1280">
                <a:solidFill>
                  <a:schemeClr val="dk1"/>
                </a:solidFill>
              </a:rPr>
              <a:t>Although a  good crossection of WUI and WBI was identified, the 52 countries do not include any of the low-income nations.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lang="en" sz="1280">
                <a:solidFill>
                  <a:schemeClr val="dk1"/>
                </a:solidFill>
              </a:rPr>
              <a:t>Merged working dataset after cleaning: 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lang="en" sz="1262">
                <a:solidFill>
                  <a:schemeClr val="dk1"/>
                </a:solidFill>
              </a:rPr>
              <a:t>1560 rows and 11 variables</a:t>
            </a:r>
            <a:endParaRPr sz="150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62"/>
              <a:buNone/>
            </a:pPr>
            <a:r>
              <a:t/>
            </a:r>
            <a:endParaRPr sz="15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Variables of interest</a:t>
            </a:r>
            <a:endParaRPr sz="2220"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75200" y="1101675"/>
            <a:ext cx="8520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                                                      Type</a:t>
            </a:r>
            <a:endParaRPr b="1" sz="12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iso_code                    ISO 3-letter country code      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region                      middle-east, latin-america,     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Asia-pacific,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europe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north-america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income_group                lower-middle, upper-middle, high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year                            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GDP_per_capita              US dollars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Life_expectancy             years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Health_spend       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Education_spend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RD_spend              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WUI                          uncertainty index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3879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00">
                <a:highlight>
                  <a:srgbClr val="FFFFFF"/>
                </a:highlight>
              </a:rPr>
              <a:t>Exploratory data analysis and visualization</a:t>
            </a:r>
            <a:endParaRPr b="1"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</p:txBody>
      </p:sp>
      <p:pic>
        <p:nvPicPr>
          <p:cNvPr id="78" name="Google Shape;7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785"/>
            <a:ext cx="9143999" cy="4632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6cfacbd5b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Correlations with respect to log_gdp/capita</a:t>
            </a:r>
            <a:endParaRPr b="1" sz="1820"/>
          </a:p>
        </p:txBody>
      </p:sp>
      <p:pic>
        <p:nvPicPr>
          <p:cNvPr id="84" name="Google Shape;84;g3e6cfacbd5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1157425"/>
            <a:ext cx="9067799" cy="34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6cfacbd5b_0_13"/>
          <p:cNvSpPr txBox="1"/>
          <p:nvPr>
            <p:ph type="title"/>
          </p:nvPr>
        </p:nvSpPr>
        <p:spPr>
          <a:xfrm>
            <a:off x="311700" y="445025"/>
            <a:ext cx="69438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World Uncertainty Index by region and income group</a:t>
            </a:r>
            <a:endParaRPr b="1" sz="1820"/>
          </a:p>
        </p:txBody>
      </p:sp>
      <p:pic>
        <p:nvPicPr>
          <p:cNvPr id="90" name="Google Shape;90;g3e6cfacbd5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0" y="1108000"/>
            <a:ext cx="9003750" cy="38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cfacbd5b_0_22"/>
          <p:cNvSpPr txBox="1"/>
          <p:nvPr>
            <p:ph type="title"/>
          </p:nvPr>
        </p:nvSpPr>
        <p:spPr>
          <a:xfrm>
            <a:off x="1293175" y="333225"/>
            <a:ext cx="68943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Mean R&amp;D investment by region and income group</a:t>
            </a:r>
            <a:endParaRPr b="1" sz="1820"/>
          </a:p>
        </p:txBody>
      </p:sp>
      <p:pic>
        <p:nvPicPr>
          <p:cNvPr id="96" name="Google Shape;96;g3e6cfacbd5b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92201" cy="37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6cfacbd5b_0_28"/>
          <p:cNvSpPr txBox="1"/>
          <p:nvPr>
            <p:ph type="title"/>
          </p:nvPr>
        </p:nvSpPr>
        <p:spPr>
          <a:xfrm>
            <a:off x="1703175" y="420175"/>
            <a:ext cx="51921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Quadratic fit to R&amp;D vs log GDP/capita</a:t>
            </a:r>
            <a:endParaRPr b="1" sz="1820"/>
          </a:p>
        </p:txBody>
      </p:sp>
      <p:pic>
        <p:nvPicPr>
          <p:cNvPr id="102" name="Google Shape;102;g3e6cfacbd5b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73490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e6cfacbd5b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75" y="209025"/>
            <a:ext cx="7305251" cy="46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6cfacbd5b_0_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Models Results for prediction of R&amp;D</a:t>
            </a:r>
            <a:endParaRPr b="1" sz="2220"/>
          </a:p>
        </p:txBody>
      </p:sp>
      <p:sp>
        <p:nvSpPr>
          <p:cNvPr id="113" name="Google Shape;113;g3e6cfacbd5b_0_47"/>
          <p:cNvSpPr txBox="1"/>
          <p:nvPr>
            <p:ph idx="1" type="body"/>
          </p:nvPr>
        </p:nvSpPr>
        <p:spPr>
          <a:xfrm>
            <a:off x="311700" y="1152475"/>
            <a:ext cx="8520600" cy="3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Tried 4 models: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0.   </a:t>
            </a:r>
            <a:r>
              <a:rPr lang="en">
                <a:solidFill>
                  <a:srgbClr val="000000"/>
                </a:solidFill>
              </a:rPr>
              <a:t>Linear Regression without region and income group included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Linear regression including all features, including region and income group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Polynomial regression: quadratic in log GDP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Interaction of log GDP and WUI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Comparison: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Model      RMSE        R2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                   Linear  0.780412  0.506989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  Linear with Categorical  0.688461  0.616321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               Polynomial  0.689879  0.614739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              Interaction  0.688766  0.615981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cfacbd5b_0_34"/>
          <p:cNvSpPr txBox="1"/>
          <p:nvPr>
            <p:ph type="title"/>
          </p:nvPr>
        </p:nvSpPr>
        <p:spPr>
          <a:xfrm>
            <a:off x="1524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Model 2: Residuals and Actual vs Predicted  R&amp;D (% GDP)</a:t>
            </a:r>
            <a:endParaRPr b="1" sz="1820"/>
          </a:p>
        </p:txBody>
      </p:sp>
      <p:pic>
        <p:nvPicPr>
          <p:cNvPr id="119" name="Google Shape;119;g3e6cfacbd5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9225"/>
            <a:ext cx="9052174" cy="32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cfacbd5b_0_59"/>
          <p:cNvSpPr txBox="1"/>
          <p:nvPr>
            <p:ph type="title"/>
          </p:nvPr>
        </p:nvSpPr>
        <p:spPr>
          <a:xfrm>
            <a:off x="2547450" y="271025"/>
            <a:ext cx="40491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396"/>
              <a:buFont typeface="Arial"/>
              <a:buNone/>
            </a:pPr>
            <a:r>
              <a:rPr b="1" lang="en" sz="1820"/>
              <a:t>Logistic regression and classification of countries by R&amp;D expenditure</a:t>
            </a:r>
            <a:endParaRPr b="1" sz="1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125" name="Google Shape;125;g3e6cfacbd5b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350" y="1399638"/>
            <a:ext cx="4500150" cy="262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e6cfacbd5b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00" y="1182700"/>
            <a:ext cx="4212251" cy="24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e6cfacbd5b_0_59"/>
          <p:cNvSpPr txBox="1"/>
          <p:nvPr/>
        </p:nvSpPr>
        <p:spPr>
          <a:xfrm>
            <a:off x="633625" y="4261425"/>
            <a:ext cx="284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Regression accuracy: 0.89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8" name="Google Shape;128;g3e6cfacbd5b_0_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00" y="1232400"/>
            <a:ext cx="4683142" cy="26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6cfacbd5b_0_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Logistic correlation coefficients vs log odds: variable importance</a:t>
            </a:r>
            <a:endParaRPr b="1" sz="1820"/>
          </a:p>
        </p:txBody>
      </p:sp>
      <p:pic>
        <p:nvPicPr>
          <p:cNvPr id="134" name="Google Shape;134;g3e6cfacbd5b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025" y="1145275"/>
            <a:ext cx="703863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311700" y="1104700"/>
            <a:ext cx="8695500" cy="4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B3B3B"/>
                </a:solidFill>
                <a:highlight>
                  <a:srgbClr val="FFFFFF"/>
                </a:highlight>
              </a:rPr>
              <a:t>R&amp;D expenditure across countries, focusing on the roles of economic development, human development, and uncertainty:</a:t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B3B3B"/>
                </a:solidFill>
                <a:highlight>
                  <a:srgbClr val="FFFFFF"/>
                </a:highlight>
              </a:rPr>
              <a:t>First, economic wealth is the dominant driver of R&amp;D investment. Diminishing returns.</a:t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B3B3B"/>
                </a:solidFill>
                <a:highlight>
                  <a:srgbClr val="FFFFFF"/>
                </a:highlight>
              </a:rPr>
              <a:t>Second, structural factors such as region and income group play a critical role.</a:t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B3B3B"/>
                </a:solidFill>
                <a:highlight>
                  <a:srgbClr val="FFFFFF"/>
                </a:highlight>
              </a:rPr>
              <a:t>Third, the role of uncertainty appears to be limited.One possible explanation is that R&amp;D expenditure reflects long-term strategic investment decisions. Structural factors are more important determinants.</a:t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50">
                <a:solidFill>
                  <a:srgbClr val="3B3B3B"/>
                </a:solidFill>
                <a:highlight>
                  <a:srgbClr val="FFFFFF"/>
                </a:highlight>
              </a:rPr>
              <a:t>These insights have implications for policy, as they emphasize the importance of sustained economic development and institutional support for innovation, over short-term responses to uncertainty. I.e., continue to fund good research even during tough times!</a:t>
            </a:r>
            <a:endParaRPr i="1" sz="14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